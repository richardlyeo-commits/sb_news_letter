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65" r:id="rId2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44" userDrawn="1">
          <p15:clr>
            <a:srgbClr val="A4A3A4"/>
          </p15:clr>
        </p15:guide>
        <p15:guide id="2" pos="2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41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14" y="162"/>
      </p:cViewPr>
      <p:guideLst>
        <p:guide orient="horz" pos="444"/>
        <p:guide pos="2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059577659979db42" providerId="LiveId" clId="{4071A736-A1BB-4533-AC7B-7601E4438D4A}"/>
  </pc:docChgLst>
  <pc:docChgLst>
    <pc:chgData userId="059577659979db42" providerId="LiveId" clId="{93FFB23E-1D10-47B5-A351-0A3F2D67F276}"/>
    <pc:docChg chg="delSld">
      <pc:chgData name="" userId="059577659979db42" providerId="LiveId" clId="{93FFB23E-1D10-47B5-A351-0A3F2D67F276}" dt="2023-10-12T07:14:45.636" v="1" actId="2696"/>
      <pc:docMkLst>
        <pc:docMk/>
      </pc:docMkLst>
      <pc:sldChg chg="del">
        <pc:chgData name="" userId="059577659979db42" providerId="LiveId" clId="{93FFB23E-1D10-47B5-A351-0A3F2D67F276}" dt="2023-10-12T07:14:44.310" v="0" actId="2696"/>
        <pc:sldMkLst>
          <pc:docMk/>
          <pc:sldMk cId="1986708290" sldId="256"/>
        </pc:sldMkLst>
      </pc:sldChg>
      <pc:sldChg chg="del">
        <pc:chgData name="" userId="059577659979db42" providerId="LiveId" clId="{93FFB23E-1D10-47B5-A351-0A3F2D67F276}" dt="2023-10-12T07:14:45.636" v="1" actId="2696"/>
        <pc:sldMkLst>
          <pc:docMk/>
          <pc:sldMk cId="993462108" sldId="257"/>
        </pc:sldMkLst>
      </pc:sldChg>
    </pc:docChg>
  </pc:docChgLst>
  <pc:docChgLst>
    <pc:chgData userId="059577659979db42" providerId="LiveId" clId="{B8CCF0E2-B86C-4F7F-BC7F-3F73804D42BD}"/>
    <pc:docChg chg="custSel modSld">
      <pc:chgData name="" userId="059577659979db42" providerId="LiveId" clId="{B8CCF0E2-B86C-4F7F-BC7F-3F73804D42BD}" dt="2023-10-12T07:11:36.651" v="1143" actId="20577"/>
      <pc:docMkLst>
        <pc:docMk/>
      </pc:docMkLst>
      <pc:sldChg chg="addSp delSp modSp">
        <pc:chgData name="" userId="059577659979db42" providerId="LiveId" clId="{B8CCF0E2-B86C-4F7F-BC7F-3F73804D42BD}" dt="2023-10-12T07:11:36.651" v="1143" actId="20577"/>
        <pc:sldMkLst>
          <pc:docMk/>
          <pc:sldMk cId="494117149" sldId="258"/>
        </pc:sldMkLst>
        <pc:spChg chg="del mod">
          <ac:chgData name="" userId="059577659979db42" providerId="LiveId" clId="{B8CCF0E2-B86C-4F7F-BC7F-3F73804D42BD}" dt="2023-10-12T06:55:15.369" v="152" actId="478"/>
          <ac:spMkLst>
            <pc:docMk/>
            <pc:sldMk cId="494117149" sldId="258"/>
            <ac:spMk id="2" creationId="{76F02EB5-4DDA-435F-B8D9-909144162E1F}"/>
          </ac:spMkLst>
        </pc:spChg>
        <pc:spChg chg="add del mod">
          <ac:chgData name="" userId="059577659979db42" providerId="LiveId" clId="{B8CCF0E2-B86C-4F7F-BC7F-3F73804D42BD}" dt="2023-10-12T06:52:10.926" v="149"/>
          <ac:spMkLst>
            <pc:docMk/>
            <pc:sldMk cId="494117149" sldId="258"/>
            <ac:spMk id="3" creationId="{D71311E2-B313-4356-8745-9A000D249171}"/>
          </ac:spMkLst>
        </pc:spChg>
        <pc:spChg chg="add del mod">
          <ac:chgData name="" userId="059577659979db42" providerId="LiveId" clId="{B8CCF0E2-B86C-4F7F-BC7F-3F73804D42BD}" dt="2023-10-12T06:55:11.225" v="151" actId="478"/>
          <ac:spMkLst>
            <pc:docMk/>
            <pc:sldMk cId="494117149" sldId="258"/>
            <ac:spMk id="4" creationId="{2A0A39C1-6676-44B0-BAC9-FCAC2513966A}"/>
          </ac:spMkLst>
        </pc:spChg>
        <pc:spChg chg="mod">
          <ac:chgData name="" userId="059577659979db42" providerId="LiveId" clId="{B8CCF0E2-B86C-4F7F-BC7F-3F73804D42BD}" dt="2023-10-12T06:39:18.073" v="39" actId="1038"/>
          <ac:spMkLst>
            <pc:docMk/>
            <pc:sldMk cId="494117149" sldId="258"/>
            <ac:spMk id="6" creationId="{43617A4B-8CD4-451E-A52E-05032E504B66}"/>
          </ac:spMkLst>
        </pc:spChg>
        <pc:spChg chg="del mod">
          <ac:chgData name="" userId="059577659979db42" providerId="LiveId" clId="{B8CCF0E2-B86C-4F7F-BC7F-3F73804D42BD}" dt="2023-10-12T06:40:25.176" v="52" actId="478"/>
          <ac:spMkLst>
            <pc:docMk/>
            <pc:sldMk cId="494117149" sldId="258"/>
            <ac:spMk id="11" creationId="{6E3108BE-D020-4340-B31C-19FA45F28E79}"/>
          </ac:spMkLst>
        </pc:spChg>
        <pc:spChg chg="add del mod">
          <ac:chgData name="" userId="059577659979db42" providerId="LiveId" clId="{B8CCF0E2-B86C-4F7F-BC7F-3F73804D42BD}" dt="2023-10-12T06:55:18.676" v="153" actId="478"/>
          <ac:spMkLst>
            <pc:docMk/>
            <pc:sldMk cId="494117149" sldId="258"/>
            <ac:spMk id="12" creationId="{6ACD9B57-B0C6-4D96-AA9F-1AF21CCDD876}"/>
          </ac:spMkLst>
        </pc:spChg>
        <pc:spChg chg="add mod">
          <ac:chgData name="" userId="059577659979db42" providerId="LiveId" clId="{B8CCF0E2-B86C-4F7F-BC7F-3F73804D42BD}" dt="2023-10-12T07:09:12.206" v="1005" actId="1036"/>
          <ac:spMkLst>
            <pc:docMk/>
            <pc:sldMk cId="494117149" sldId="258"/>
            <ac:spMk id="15" creationId="{6E6895C6-D433-4C3F-AD2B-0B9FF2B906BE}"/>
          </ac:spMkLst>
        </pc:spChg>
        <pc:graphicFrameChg chg="add del mod">
          <ac:chgData name="" userId="059577659979db42" providerId="LiveId" clId="{B8CCF0E2-B86C-4F7F-BC7F-3F73804D42BD}" dt="2023-10-12T06:43:45.363" v="58" actId="478"/>
          <ac:graphicFrameMkLst>
            <pc:docMk/>
            <pc:sldMk cId="494117149" sldId="258"/>
            <ac:graphicFrameMk id="7" creationId="{464838CF-661D-4B40-917D-FEC842301477}"/>
          </ac:graphicFrameMkLst>
        </pc:graphicFrameChg>
        <pc:graphicFrameChg chg="add del mod modGraphic">
          <ac:chgData name="" userId="059577659979db42" providerId="LiveId" clId="{B8CCF0E2-B86C-4F7F-BC7F-3F73804D42BD}" dt="2023-10-12T06:47:56.359" v="65" actId="478"/>
          <ac:graphicFrameMkLst>
            <pc:docMk/>
            <pc:sldMk cId="494117149" sldId="258"/>
            <ac:graphicFrameMk id="9" creationId="{83111D6A-7785-4CAE-8D5D-95F747AB3A30}"/>
          </ac:graphicFrameMkLst>
        </pc:graphicFrameChg>
        <pc:graphicFrameChg chg="add del mod modGraphic">
          <ac:chgData name="" userId="059577659979db42" providerId="LiveId" clId="{B8CCF0E2-B86C-4F7F-BC7F-3F73804D42BD}" dt="2023-10-12T06:55:08.465" v="150" actId="478"/>
          <ac:graphicFrameMkLst>
            <pc:docMk/>
            <pc:sldMk cId="494117149" sldId="258"/>
            <ac:graphicFrameMk id="10" creationId="{0B450F13-C3C2-4E76-A4E6-5BA78CBF2BC2}"/>
          </ac:graphicFrameMkLst>
        </pc:graphicFrameChg>
        <pc:graphicFrameChg chg="del">
          <ac:chgData name="" userId="059577659979db42" providerId="LiveId" clId="{B8CCF0E2-B86C-4F7F-BC7F-3F73804D42BD}" dt="2023-10-12T06:38:28.729" v="0" actId="478"/>
          <ac:graphicFrameMkLst>
            <pc:docMk/>
            <pc:sldMk cId="494117149" sldId="258"/>
            <ac:graphicFrameMk id="13" creationId="{F7FA95B7-DE9B-47EC-B93C-FACEA277BC13}"/>
          </ac:graphicFrameMkLst>
        </pc:graphicFrameChg>
        <pc:graphicFrameChg chg="add mod modGraphic">
          <ac:chgData name="" userId="059577659979db42" providerId="LiveId" clId="{B8CCF0E2-B86C-4F7F-BC7F-3F73804D42BD}" dt="2023-10-12T07:11:36.651" v="1143" actId="20577"/>
          <ac:graphicFrameMkLst>
            <pc:docMk/>
            <pc:sldMk cId="494117149" sldId="258"/>
            <ac:graphicFrameMk id="14" creationId="{9E15E565-2368-4CA7-B7EB-75187078894D}"/>
          </ac:graphicFrameMkLst>
        </pc:graphicFrameChg>
        <pc:picChg chg="del">
          <ac:chgData name="" userId="059577659979db42" providerId="LiveId" clId="{B8CCF0E2-B86C-4F7F-BC7F-3F73804D42BD}" dt="2023-10-12T06:38:53.240" v="14" actId="478"/>
          <ac:picMkLst>
            <pc:docMk/>
            <pc:sldMk cId="494117149" sldId="258"/>
            <ac:picMk id="8" creationId="{355B5171-54B6-4D65-B193-305BF6DA6F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2812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10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043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1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46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116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037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462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7479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83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60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52BE1-5CC0-4391-804A-6C22D1285240}" type="datetimeFigureOut">
              <a:rPr lang="ko-KR" altLang="en-US" smtClean="0"/>
              <a:t>2026-04-20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96B0B-0185-4148-B3EC-0987FBDD3B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742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9E15E565-2368-4CA7-B7EB-751870788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36438"/>
              </p:ext>
            </p:extLst>
          </p:nvPr>
        </p:nvGraphicFramePr>
        <p:xfrm>
          <a:off x="139331" y="512585"/>
          <a:ext cx="6637249" cy="992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2017">
                  <a:extLst>
                    <a:ext uri="{9D8B030D-6E8A-4147-A177-3AD203B41FA5}">
                      <a16:colId xmlns:a16="http://schemas.microsoft.com/office/drawing/2014/main" val="916089282"/>
                    </a:ext>
                  </a:extLst>
                </a:gridCol>
                <a:gridCol w="1315232">
                  <a:extLst>
                    <a:ext uri="{9D8B030D-6E8A-4147-A177-3AD203B41FA5}">
                      <a16:colId xmlns:a16="http://schemas.microsoft.com/office/drawing/2014/main" val="1056876934"/>
                    </a:ext>
                  </a:extLst>
                </a:gridCol>
              </a:tblGrid>
              <a:tr h="257979">
                <a:tc rowSpan="3">
                  <a:txBody>
                    <a:bodyPr/>
                    <a:lstStyle/>
                    <a:p>
                      <a:pPr marL="0" indent="0" algn="l" latinLnBrk="1">
                        <a:lnSpc>
                          <a:spcPts val="1600"/>
                        </a:lnSpc>
                        <a:buFontTx/>
                        <a:buNone/>
                      </a:pP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‘26.4.16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406940"/>
                  </a:ext>
                </a:extLst>
              </a:tr>
              <a:tr h="425885">
                <a:tc vMerge="1">
                  <a:txBody>
                    <a:bodyPr/>
                    <a:lstStyle/>
                    <a:p>
                      <a:pPr marL="0" indent="0" algn="l" latinLnBrk="1">
                        <a:lnSpc>
                          <a:spcPts val="1600"/>
                        </a:lnSpc>
                        <a:buFontTx/>
                        <a:buNone/>
                      </a:pP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1" hangingPunct="1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운행본부</a:t>
                      </a:r>
                      <a:endParaRPr lang="en-US" altLang="ko-KR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2102"/>
                  </a:ext>
                </a:extLst>
              </a:tr>
              <a:tr h="264719">
                <a:tc vMerge="1">
                  <a:txBody>
                    <a:bodyPr/>
                    <a:lstStyle/>
                    <a:p>
                      <a:pPr marL="0" indent="0" algn="l" latinLnBrk="1">
                        <a:lnSpc>
                          <a:spcPts val="1600"/>
                        </a:lnSpc>
                        <a:buFontTx/>
                        <a:buNone/>
                      </a:pP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6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☎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1019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63293"/>
                  </a:ext>
                </a:extLst>
              </a:tr>
            </a:tbl>
          </a:graphicData>
        </a:graphic>
      </p:graphicFrame>
      <p:sp>
        <p:nvSpPr>
          <p:cNvPr id="27" name="제목 1">
            <a:extLst>
              <a:ext uri="{FF2B5EF4-FFF2-40B4-BE49-F238E27FC236}">
                <a16:creationId xmlns:a16="http://schemas.microsoft.com/office/drawing/2014/main" id="{705FDFB2-550A-4DCA-9E78-6F6EC8CB4AB1}"/>
              </a:ext>
            </a:extLst>
          </p:cNvPr>
          <p:cNvSpPr txBox="1">
            <a:spLocks/>
          </p:cNvSpPr>
          <p:nvPr/>
        </p:nvSpPr>
        <p:spPr>
          <a:xfrm>
            <a:off x="866181" y="501701"/>
            <a:ext cx="3931287" cy="8385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2000" b="1" dirty="0" err="1"/>
              <a:t>공지문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1800" b="1" dirty="0"/>
              <a:t>(</a:t>
            </a:r>
            <a:r>
              <a:rPr lang="ko-KR" altLang="en-US" sz="1800" b="1" dirty="0"/>
              <a:t>운행질서 문란행위 집중관리 활동</a:t>
            </a:r>
            <a:r>
              <a:rPr lang="en-US" altLang="ko-KR" sz="1800" b="1" dirty="0"/>
              <a:t>)</a:t>
            </a:r>
          </a:p>
        </p:txBody>
      </p:sp>
      <p:pic>
        <p:nvPicPr>
          <p:cNvPr id="8" name="그림 7" descr="EMB000018640179">
            <a:extLst>
              <a:ext uri="{FF2B5EF4-FFF2-40B4-BE49-F238E27FC236}">
                <a16:creationId xmlns:a16="http://schemas.microsoft.com/office/drawing/2014/main" id="{9EA707AB-744C-477C-998B-19436E6326F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6537" y="532218"/>
            <a:ext cx="1064895" cy="100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E8BB792-8D3D-4210-89DD-99FCFF57136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54" y="531324"/>
            <a:ext cx="1065530" cy="9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제목 1">
            <a:extLst>
              <a:ext uri="{FF2B5EF4-FFF2-40B4-BE49-F238E27FC236}">
                <a16:creationId xmlns:a16="http://schemas.microsoft.com/office/drawing/2014/main" id="{AB5E0970-E6D1-459B-88EC-2133EBC671ED}"/>
              </a:ext>
            </a:extLst>
          </p:cNvPr>
          <p:cNvSpPr txBox="1">
            <a:spLocks/>
          </p:cNvSpPr>
          <p:nvPr/>
        </p:nvSpPr>
        <p:spPr>
          <a:xfrm>
            <a:off x="100034" y="1501086"/>
            <a:ext cx="6701581" cy="33225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1400" b="1" dirty="0"/>
              <a:t>■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활동 목적</a:t>
            </a:r>
            <a:endParaRPr lang="en-US" altLang="ko-KR" sz="1400" b="1" dirty="0"/>
          </a:p>
          <a:p>
            <a:pPr marL="263525" indent="-263525" algn="l">
              <a:lnSpc>
                <a:spcPct val="150000"/>
              </a:lnSpc>
            </a:pPr>
            <a:r>
              <a:rPr lang="ko-KR" altLang="en-US" sz="1400" b="1" dirty="0"/>
              <a:t> </a:t>
            </a:r>
            <a:r>
              <a:rPr lang="en-US" altLang="ko-KR" sz="1400" b="1" dirty="0"/>
              <a:t>  - </a:t>
            </a:r>
            <a:r>
              <a:rPr lang="ko-KR" altLang="en-US" sz="1400" b="1" dirty="0" err="1"/>
              <a:t>공관제</a:t>
            </a:r>
            <a:r>
              <a:rPr lang="ko-KR" altLang="en-US" sz="1400" b="1" dirty="0"/>
              <a:t> 확대 시행 후 지속적인 지연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밀착 개선활동을 전개하였으나 배차 간격 관련 민원이 수시로 발생하여 고객 서비스 문제가 해소되지 않고 있기에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회사는 탑승객이 감소되는 영향을 받을 수 밖에 없습니다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아울러 지연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밀착 문제는 승무사원과 배차 담당자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승무사원과 승무사원 간의 갈등 요인으로도 긴밀히 작용하고 있습니다</a:t>
            </a:r>
            <a:r>
              <a:rPr lang="en-US" altLang="ko-KR" sz="1400" b="1" dirty="0"/>
              <a:t>.</a:t>
            </a:r>
          </a:p>
          <a:p>
            <a:pPr marL="263525" indent="-263525" algn="l">
              <a:lnSpc>
                <a:spcPct val="150000"/>
              </a:lnSpc>
            </a:pPr>
            <a:r>
              <a:rPr lang="en-US" altLang="ko-KR" sz="1400" b="1" dirty="0"/>
              <a:t>   - </a:t>
            </a:r>
            <a:r>
              <a:rPr lang="ko-KR" altLang="en-US" sz="1400" b="1" dirty="0"/>
              <a:t>이에 기존 지연</a:t>
            </a:r>
            <a:r>
              <a:rPr lang="en-US" altLang="ko-KR" sz="1400" b="1" dirty="0"/>
              <a:t>/</a:t>
            </a:r>
            <a:r>
              <a:rPr lang="ko-KR" altLang="en-US" sz="1400" b="1" dirty="0"/>
              <a:t>밀착 위반 행위를 집중 단속하고 계도하는 기간을 설정하여 전환점을 마련하고자 하며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아울러 </a:t>
            </a:r>
            <a:r>
              <a:rPr lang="ko-KR" altLang="en-US" sz="1400" b="1" dirty="0" err="1"/>
              <a:t>공관제</a:t>
            </a:r>
            <a:r>
              <a:rPr lang="ko-KR" altLang="en-US" sz="1400" b="1" dirty="0"/>
              <a:t> 버스 평가 기준인 배차간격 준수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정시 </a:t>
            </a:r>
            <a:r>
              <a:rPr lang="ko-KR" altLang="en-US" sz="1400" b="1" dirty="0" err="1"/>
              <a:t>출발및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무정차</a:t>
            </a:r>
            <a:r>
              <a:rPr lang="ko-KR" altLang="en-US" sz="1400" b="1" dirty="0"/>
              <a:t> 실태도 점검하여 평가 기준이 평소에도 지켜질 수 있도록 하는 계기를 마련하고자 합니다</a:t>
            </a:r>
            <a:r>
              <a:rPr lang="en-US" altLang="ko-KR" sz="1400" b="1" dirty="0"/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400" b="1" dirty="0"/>
          </a:p>
          <a:p>
            <a:pPr algn="l">
              <a:lnSpc>
                <a:spcPct val="150000"/>
              </a:lnSpc>
            </a:pPr>
            <a:endParaRPr lang="en-US" altLang="ko-KR" sz="1400" b="1" dirty="0"/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A1079161-4B50-449F-9985-143E7663B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06409"/>
              </p:ext>
            </p:extLst>
          </p:nvPr>
        </p:nvGraphicFramePr>
        <p:xfrm>
          <a:off x="353048" y="4864010"/>
          <a:ext cx="6446104" cy="2722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2438">
                  <a:extLst>
                    <a:ext uri="{9D8B030D-6E8A-4147-A177-3AD203B41FA5}">
                      <a16:colId xmlns:a16="http://schemas.microsoft.com/office/drawing/2014/main" val="3904521904"/>
                    </a:ext>
                  </a:extLst>
                </a:gridCol>
                <a:gridCol w="4749846">
                  <a:extLst>
                    <a:ext uri="{9D8B030D-6E8A-4147-A177-3AD203B41FA5}">
                      <a16:colId xmlns:a16="http://schemas.microsoft.com/office/drawing/2014/main" val="4147335225"/>
                    </a:ext>
                  </a:extLst>
                </a:gridCol>
                <a:gridCol w="623820">
                  <a:extLst>
                    <a:ext uri="{9D8B030D-6E8A-4147-A177-3AD203B41FA5}">
                      <a16:colId xmlns:a16="http://schemas.microsoft.com/office/drawing/2014/main" val="1423328294"/>
                    </a:ext>
                  </a:extLst>
                </a:gridCol>
              </a:tblGrid>
              <a:tr h="30842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9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 분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9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  용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19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 고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5679300"/>
                  </a:ext>
                </a:extLst>
              </a:tr>
              <a:tr h="30842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20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기간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담당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’26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4/20~6/20 (2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개월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 /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운행본부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FontTx/>
                        <a:buNone/>
                      </a:pP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948889"/>
                  </a:ext>
                </a:extLst>
              </a:tr>
              <a:tr h="30842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20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대상 노선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전체 노선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FontTx/>
                        <a:buNone/>
                      </a:pP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441518"/>
                  </a:ext>
                </a:extLst>
              </a:tr>
              <a:tr h="30842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20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점검 내용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싱습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 또는 고의 지연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밀착 운행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배차간격 준수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 정시 출발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1" dirty="0" err="1">
                          <a:latin typeface="+mn-ea"/>
                          <a:ea typeface="+mn-ea"/>
                        </a:rPr>
                        <a:t>무정차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FontTx/>
                        <a:buNone/>
                      </a:pP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3172127"/>
                  </a:ext>
                </a:extLst>
              </a:tr>
              <a:tr h="30842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20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적발 기준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1" hangingPunct="1">
                        <a:lnSpc>
                          <a:spcPts val="2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배차간격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* 70% (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지연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밀착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FontTx/>
                        <a:buNone/>
                      </a:pP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0647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ts val="20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위반자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ctr" latinLnBrk="1">
                        <a:lnSpc>
                          <a:spcPts val="2000"/>
                        </a:lnSpc>
                        <a:buFontTx/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계도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처벌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- 1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차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지역 본부장 교육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회 위반시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- 2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차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시말서 제출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추가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회 위반시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본사 방문하여 교육 후 시말서 작성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indent="0" algn="l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- 3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차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인사위원회 회부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누적 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회 위반시</a:t>
                      </a:r>
                      <a:r>
                        <a:rPr lang="en-US" altLang="ko-KR" sz="1200" b="1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200" b="1" dirty="0">
                          <a:latin typeface="+mn-ea"/>
                          <a:ea typeface="+mn-ea"/>
                        </a:rPr>
                        <a:t>→ 징계 조치</a:t>
                      </a: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000"/>
                        </a:lnSpc>
                        <a:buFontTx/>
                        <a:buNone/>
                      </a:pPr>
                      <a:endParaRPr lang="en-US" altLang="ko-KR" sz="1200" b="1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200281"/>
                  </a:ext>
                </a:extLst>
              </a:tr>
            </a:tbl>
          </a:graphicData>
        </a:graphic>
      </p:graphicFrame>
      <p:sp>
        <p:nvSpPr>
          <p:cNvPr id="20" name="제목 1">
            <a:extLst>
              <a:ext uri="{FF2B5EF4-FFF2-40B4-BE49-F238E27FC236}">
                <a16:creationId xmlns:a16="http://schemas.microsoft.com/office/drawing/2014/main" id="{758969CD-4ABF-47AC-B8A3-D21B7BDD1C3A}"/>
              </a:ext>
            </a:extLst>
          </p:cNvPr>
          <p:cNvSpPr txBox="1">
            <a:spLocks/>
          </p:cNvSpPr>
          <p:nvPr/>
        </p:nvSpPr>
        <p:spPr>
          <a:xfrm>
            <a:off x="89612" y="7725016"/>
            <a:ext cx="6701581" cy="152272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63525" indent="-263525" algn="l">
              <a:lnSpc>
                <a:spcPct val="150000"/>
              </a:lnSpc>
            </a:pPr>
            <a:r>
              <a:rPr lang="ko-KR" altLang="en-US" sz="1400" b="1" dirty="0"/>
              <a:t>■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배차 간격 준수는 우리 버스를 이용하는 고객과의 약속이므로 승무사원 여러분의 각별한 노력이 요구되며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아울러 정시 출발은 </a:t>
            </a:r>
            <a:r>
              <a:rPr lang="ko-KR" altLang="en-US" sz="1400" b="1" dirty="0" err="1"/>
              <a:t>공관제</a:t>
            </a:r>
            <a:r>
              <a:rPr lang="ko-KR" altLang="en-US" sz="1400" b="1" dirty="0"/>
              <a:t> 평가 항목의 주요 항목 </a:t>
            </a:r>
            <a:r>
              <a:rPr lang="en-US" altLang="ko-KR" sz="1400" b="1" dirty="0"/>
              <a:t>(</a:t>
            </a:r>
            <a:r>
              <a:rPr lang="ko-KR" altLang="en-US" sz="1400" b="1" dirty="0" err="1"/>
              <a:t>정시성</a:t>
            </a:r>
            <a:r>
              <a:rPr lang="en-US" altLang="ko-KR" sz="1400" b="1" dirty="0"/>
              <a:t>)</a:t>
            </a:r>
            <a:r>
              <a:rPr lang="ko-KR" altLang="en-US" sz="1400" b="1" dirty="0"/>
              <a:t>으로 회사가 추구하는 운행의 질 향상 및 서비스 증진에 핵심적인 역할을 하는 요소이므로 적극적으로 개선 활동에 동참하여 주시기 바랍니다</a:t>
            </a:r>
            <a:r>
              <a:rPr lang="en-US" altLang="ko-KR" sz="1400" b="1" dirty="0"/>
              <a:t>.</a:t>
            </a:r>
            <a:r>
              <a:rPr lang="ko-KR" altLang="en-US" sz="1400" b="1" dirty="0"/>
              <a:t>  </a:t>
            </a:r>
            <a:endParaRPr lang="en-US" altLang="ko-KR" sz="1400" b="1" dirty="0"/>
          </a:p>
          <a:p>
            <a:pPr algn="l">
              <a:lnSpc>
                <a:spcPct val="150000"/>
              </a:lnSpc>
            </a:pPr>
            <a:endParaRPr lang="en-US" altLang="ko-KR" sz="1400" b="1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9F0AE5-76F4-412A-8D47-8F46CF3E5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9708" y="-890016"/>
            <a:ext cx="68580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533849984" descr="DRW000043c40a80">
            <a:extLst>
              <a:ext uri="{FF2B5EF4-FFF2-40B4-BE49-F238E27FC236}">
                <a16:creationId xmlns:a16="http://schemas.microsoft.com/office/drawing/2014/main" id="{1560B3F7-8E2B-4A11-9D40-A511C5DDC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6275" y="8158543"/>
            <a:ext cx="1662113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0922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3146</TotalTime>
  <Words>255</Words>
  <Application>Microsoft Office PowerPoint</Application>
  <PresentationFormat>A4 용지(210x297mm)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(25) 주차 안전단속결과</dc:title>
  <dc:creator>본사배차주임</dc:creator>
  <cp:lastModifiedBy>CCTVMON</cp:lastModifiedBy>
  <cp:revision>242</cp:revision>
  <cp:lastPrinted>2026-04-20T02:58:23Z</cp:lastPrinted>
  <dcterms:created xsi:type="dcterms:W3CDTF">2022-07-06T02:38:18Z</dcterms:created>
  <dcterms:modified xsi:type="dcterms:W3CDTF">2026-04-20T03:00:36Z</dcterms:modified>
</cp:coreProperties>
</file>